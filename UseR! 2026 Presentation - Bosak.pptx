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299" r:id="rId3"/>
    <p:sldId id="308" r:id="rId4"/>
    <p:sldId id="297" r:id="rId5"/>
    <p:sldId id="309" r:id="rId6"/>
    <p:sldId id="310" r:id="rId7"/>
    <p:sldId id="258" r:id="rId8"/>
    <p:sldId id="283" r:id="rId9"/>
    <p:sldId id="260" r:id="rId10"/>
    <p:sldId id="286" r:id="rId11"/>
    <p:sldId id="311" r:id="rId12"/>
    <p:sldId id="315" r:id="rId13"/>
    <p:sldId id="307" r:id="rId14"/>
    <p:sldId id="312" r:id="rId15"/>
    <p:sldId id="316" r:id="rId16"/>
    <p:sldId id="317" r:id="rId17"/>
    <p:sldId id="318" r:id="rId18"/>
    <p:sldId id="313" r:id="rId19"/>
    <p:sldId id="314" r:id="rId20"/>
    <p:sldId id="290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7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8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9B38-5E4C-4D76-B824-EE1C05E9C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5FA04-5361-4493-8028-0E3C050D18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C5C9E-6A06-46E8-A203-02A30FF92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F3F46-81C3-4516-830C-EDD20AE94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Demo and Discussion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D763F-7274-41E3-87A3-EE7CA37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83F171-72E3-D7AC-AA48-33682FA122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02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64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61A0F-B00E-4500-9E95-CCC021D5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844" y="365125"/>
            <a:ext cx="10214956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7C340-4212-45B9-8180-E121E4E2D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844" y="1825625"/>
            <a:ext cx="1021495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F9B896F-7F60-4CDB-ABEF-A93F120BF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99D887-4DC7-40B4-90E6-011519BF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Demo and Discussion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60CD436-FF84-499B-B03D-8969BC4D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49E54-B43B-7544-523A-BB30334F70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428" y="0"/>
            <a:ext cx="907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2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97D5-46AE-4230-B8B4-681BD764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4B186-0971-45B5-9F7B-CEBC2B9A1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45882-1D0F-4FE4-84A9-40DAD7F6C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E6085-0CA4-4CA7-B296-2884D07C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5D6D-71AA-429A-844D-AC69BC13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45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8117-1B72-4687-A4A3-83FF67F8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AF29C-AB06-4F34-B69D-97B94A522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4C6C51-7A2E-4491-8996-9CAECCE2F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6B417-180A-4332-B3CD-22604C00B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309FC-F921-4BD1-864F-BE6E4046E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5D909F-C94A-492E-90FC-BF82CD86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22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21BA-DC00-4F53-998C-15A2E0F5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16588-30BA-49EE-9734-EB7D21F23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6C66E-60B0-4974-A002-6F603AC98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BF830-BD3F-4DAA-ACF5-4833F426C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42EE6F-4CC5-442F-AF98-C70911724D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63E034-C4F1-45EC-9EBE-CC615CED6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55D59F-2D0F-402B-9956-2BE62E36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EB6ED4-F1F7-45D1-9F61-D72E5D869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97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2A2F-D471-4F04-BC7A-506D0274A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71333F-6D45-4E43-A28D-71E30D167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59F87-83C3-4F77-918D-0C6AA4B4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2BCE7-5280-42B2-8FE1-37C65E7A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34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A47011-0CE2-4C1A-8EFF-890A031CC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71D48D-0385-43A1-A0C9-76ECEECE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7F592-2710-41FB-A825-10E591D2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38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0C0D-89E5-4D06-B73B-F5A797937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89134-172C-472B-8007-58415A15A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C9508-5402-45F5-A9E2-1002A3A4B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92EE55-9252-49E2-98AE-B1C79415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457C2-280D-4C7F-B85E-05D26384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8A468-33A3-4C25-9037-223A542A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795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2050E-5D39-4A5D-A61E-D159E29B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AE3F7-7639-4698-ADE2-07DF9C158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9C930-8146-4ABB-B8C8-BADFEC194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6F335-57A7-4707-98B6-7A389908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BFB30D-8840-442A-A254-596A6AE69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95A83-84D1-45E8-8EAE-F8B7DC879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5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7111C-CD40-4CE6-9000-580E97E3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E11B83-9939-4A5B-80F5-29F99F54B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8FF58-60CB-44B8-82F4-B7D214986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49F47-6107-4C00-8E3C-16DE15CB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71785-2482-46BD-8945-D7E1FDCC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88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231999-B12F-433C-A9DF-9808F2D17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675108-257E-44E4-B1B9-1F7B9B0AD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2451C-D08B-4EA8-8016-A92E9BDE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A9B3-4541-4C90-868B-B7DD923E2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59FBF-E7D5-441E-94F6-DE9DCAC2A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15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7A766-74E5-460A-B3B9-345F5287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B90496-64ED-4BD5-B024-8BD334BD6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D1DF2-1407-4E5D-A8E8-0745CBE659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7EA03-F201-4E1B-B483-732B6715D832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08F88-8739-4687-8ECB-5D8F273DE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412C6-94E2-49E9-B8A8-5329FF03D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A6C9B-0C09-47B6-8C53-BB5FCC6B83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9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avid-bosak-724b3911?lipi=urn%3Ali%3Apage%3Ad_flagship3_profile_view_base_contact_details%3BHPdL0hTQQ8qHyaV1AC0r7g%3D%3D" TargetMode="External"/><Relationship Id="rId2" Type="http://schemas.openxmlformats.org/officeDocument/2006/relationships/hyperlink" Target="mailto:dbosak01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F74F-CC58-F227-38EC-7A72DCF5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40AF9-0A1E-07CA-FA54-7594D0C190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42" y="255296"/>
            <a:ext cx="5659921" cy="43848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9A0797C-DCD7-B535-B842-480D99C206F5}"/>
              </a:ext>
            </a:extLst>
          </p:cNvPr>
          <p:cNvSpPr txBox="1">
            <a:spLocks/>
          </p:cNvSpPr>
          <p:nvPr/>
        </p:nvSpPr>
        <p:spPr>
          <a:xfrm>
            <a:off x="7004384" y="1126702"/>
            <a:ext cx="9144000" cy="727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/>
              <a:t>UserR!-2026-XX</a:t>
            </a:r>
            <a:endParaRPr lang="en-US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3C6E8F3-8A16-3FC9-77DB-51260D666A2D}"/>
              </a:ext>
            </a:extLst>
          </p:cNvPr>
          <p:cNvSpPr txBox="1">
            <a:spLocks/>
          </p:cNvSpPr>
          <p:nvPr/>
        </p:nvSpPr>
        <p:spPr>
          <a:xfrm>
            <a:off x="6164763" y="2148881"/>
            <a:ext cx="5891463" cy="1166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 dirty="0"/>
              <a:t>Translating from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FF99E74-505F-9BD3-1CC5-0F216DFD1714}"/>
              </a:ext>
            </a:extLst>
          </p:cNvPr>
          <p:cNvSpPr txBox="1">
            <a:spLocks/>
          </p:cNvSpPr>
          <p:nvPr/>
        </p:nvSpPr>
        <p:spPr>
          <a:xfrm>
            <a:off x="4610098" y="4358187"/>
            <a:ext cx="9144000" cy="7274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By David J. Bosak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D9EB1E-051E-D422-DD07-C081AAB15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571" y="4645865"/>
            <a:ext cx="4701162" cy="210065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FC8260A-38AF-EE5D-774F-922116765889}"/>
              </a:ext>
            </a:extLst>
          </p:cNvPr>
          <p:cNvSpPr txBox="1">
            <a:spLocks/>
          </p:cNvSpPr>
          <p:nvPr/>
        </p:nvSpPr>
        <p:spPr>
          <a:xfrm>
            <a:off x="6164763" y="2731915"/>
            <a:ext cx="5891463" cy="116606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dirty="0"/>
              <a:t> SAS® to R Using AI</a:t>
            </a:r>
          </a:p>
        </p:txBody>
      </p:sp>
    </p:spTree>
    <p:extLst>
      <p:ext uri="{BB962C8B-B14F-4D97-AF65-F5344CB8AC3E}">
        <p14:creationId xmlns:p14="http://schemas.microsoft.com/office/powerpoint/2010/main" val="241981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A67FD-FBC8-964F-4983-7C376DBDC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AE149-647F-247A-8FC8-39CC48365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110" y="1818649"/>
            <a:ext cx="9144000" cy="2387600"/>
          </a:xfrm>
        </p:spPr>
        <p:txBody>
          <a:bodyPr/>
          <a:lstStyle/>
          <a:p>
            <a:r>
              <a:rPr lang="en-US" dirty="0"/>
              <a:t>SAS® to R</a:t>
            </a:r>
            <a:br>
              <a:rPr lang="en-US" dirty="0"/>
            </a:br>
            <a:r>
              <a:rPr lang="en-US" dirty="0"/>
              <a:t>Translation Project</a:t>
            </a:r>
          </a:p>
        </p:txBody>
      </p:sp>
    </p:spTree>
    <p:extLst>
      <p:ext uri="{BB962C8B-B14F-4D97-AF65-F5344CB8AC3E}">
        <p14:creationId xmlns:p14="http://schemas.microsoft.com/office/powerpoint/2010/main" val="6119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6CBA-B0AC-80CA-15DC-DA062578F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5707-CAD3-629F-9F55-A3C7F247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843" y="365125"/>
            <a:ext cx="10676167" cy="1325563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CFABD67-72E7-C5E5-8838-ADBABA3B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158" y="1654844"/>
            <a:ext cx="9023684" cy="4406900"/>
          </a:xfrm>
        </p:spPr>
        <p:txBody>
          <a:bodyPr/>
          <a:lstStyle/>
          <a:p>
            <a:r>
              <a:rPr lang="en-US" sz="3600" dirty="0"/>
              <a:t>Can AI be used for SAS to R translation?</a:t>
            </a:r>
          </a:p>
          <a:p>
            <a:r>
              <a:rPr lang="en-US" sz="3600" dirty="0"/>
              <a:t>How much efficiency is gained?</a:t>
            </a:r>
          </a:p>
          <a:p>
            <a:r>
              <a:rPr lang="en-US" sz="3600" dirty="0"/>
              <a:t>What problems are encountered?</a:t>
            </a:r>
          </a:p>
          <a:p>
            <a:r>
              <a:rPr lang="en-US" sz="3600" dirty="0"/>
              <a:t>What kind of resources are required?</a:t>
            </a:r>
            <a:endParaRPr lang="en-US" sz="2800" dirty="0"/>
          </a:p>
          <a:p>
            <a:r>
              <a:rPr lang="en-US" sz="3600" dirty="0"/>
              <a:t>What is the discrepancy rate?</a:t>
            </a:r>
          </a:p>
          <a:p>
            <a:r>
              <a:rPr lang="en-US" sz="3600" dirty="0"/>
              <a:t>What is the level of effort?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C17BA-1B29-93CA-6F31-58388DF91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5877" y="2877319"/>
            <a:ext cx="1824354" cy="262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0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F65E-862B-A078-4CF3-23744A113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00DE4-562E-28C6-B7A3-1CA6CE7C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8843" y="365125"/>
            <a:ext cx="10676167" cy="1325563"/>
          </a:xfrm>
        </p:spPr>
        <p:txBody>
          <a:bodyPr/>
          <a:lstStyle/>
          <a:p>
            <a:r>
              <a:rPr lang="en-US" dirty="0"/>
              <a:t>Pilot Project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3D9F3059-859E-110E-37DE-4ECC5C002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61" y="1985210"/>
            <a:ext cx="10236871" cy="3949699"/>
          </a:xfrm>
        </p:spPr>
        <p:txBody>
          <a:bodyPr>
            <a:normAutofit/>
          </a:bodyPr>
          <a:lstStyle/>
          <a:p>
            <a:r>
              <a:rPr lang="en-US" sz="4000" dirty="0"/>
              <a:t>3 Clinical Studies</a:t>
            </a:r>
          </a:p>
          <a:p>
            <a:r>
              <a:rPr lang="en-US" sz="4000" dirty="0"/>
              <a:t>Phase 2/3</a:t>
            </a:r>
          </a:p>
          <a:p>
            <a:r>
              <a:rPr lang="en-US" sz="4000" dirty="0"/>
              <a:t>~350 SAS Programs</a:t>
            </a:r>
          </a:p>
          <a:p>
            <a:r>
              <a:rPr lang="en-US" sz="4000" dirty="0"/>
              <a:t>200 to 3000 lines per program</a:t>
            </a:r>
          </a:p>
          <a:p>
            <a:r>
              <a:rPr lang="en-US" sz="4000" dirty="0"/>
              <a:t>1/3 statistical analysis</a:t>
            </a:r>
          </a:p>
          <a:p>
            <a:pPr lvl="1"/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4AE17C-DCF0-A3DC-D74B-3F7C77ADA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9096" y="1118314"/>
            <a:ext cx="3543795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26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0AC8-C921-3DE6-674C-C1411151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B76CE-2CD1-B301-6AAB-4D4BE5FB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6611C-7262-2257-067A-2ACAEFCB5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844" y="1302251"/>
            <a:ext cx="103272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sz="3600" dirty="0"/>
              <a:t>Use AI for initial translation </a:t>
            </a:r>
          </a:p>
          <a:p>
            <a:r>
              <a:rPr lang="en-US" sz="3600" dirty="0"/>
              <a:t>Test and remediate</a:t>
            </a:r>
          </a:p>
          <a:p>
            <a:r>
              <a:rPr lang="en-US" sz="3600" dirty="0"/>
              <a:t>Add logging, program headers, comments, etc.</a:t>
            </a:r>
          </a:p>
          <a:p>
            <a:r>
              <a:rPr lang="en-US" sz="3600" dirty="0"/>
              <a:t>Electronic comparison for datasets</a:t>
            </a:r>
          </a:p>
          <a:p>
            <a:r>
              <a:rPr lang="en-US" sz="3600" dirty="0"/>
              <a:t>Visual comparison for TLFs</a:t>
            </a:r>
          </a:p>
          <a:p>
            <a:r>
              <a:rPr lang="en-US" sz="3600" dirty="0"/>
              <a:t>QC Review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C35B98-0F4C-7A4F-E232-5B394784A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279" y="1690688"/>
            <a:ext cx="575343" cy="6535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310BE8-44E5-A5CB-5B1B-F99C016BF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879" y="2344278"/>
            <a:ext cx="575343" cy="653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57E695-3FA7-AA3F-B17B-D0A96BE3E3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156" y="2913898"/>
            <a:ext cx="575343" cy="6535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24CE21-315D-3FBE-2701-45974A77A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632" y="3567488"/>
            <a:ext cx="575343" cy="6535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9E2A85-5129-E0D6-5D90-DE3CED02A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607" y="4186928"/>
            <a:ext cx="575343" cy="6535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82A630-7533-12C4-0917-AE419F552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07" y="4840518"/>
            <a:ext cx="575343" cy="65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27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5AC6E-1FE2-C01E-E645-81C111DB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73C1F-7173-0B94-DFD5-24F38999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8AA2-C140-CF2B-6B3C-309228010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844" y="1302251"/>
            <a:ext cx="103272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r>
              <a:rPr lang="en-US" sz="4400" dirty="0"/>
              <a:t>Match 100% </a:t>
            </a:r>
          </a:p>
          <a:p>
            <a:r>
              <a:rPr lang="en-US" sz="4400" dirty="0"/>
              <a:t>Not match with clear reason </a:t>
            </a:r>
          </a:p>
          <a:p>
            <a:r>
              <a:rPr lang="en-US" sz="4400" dirty="0"/>
              <a:t>Translate as quickly as possible</a:t>
            </a:r>
          </a:p>
          <a:p>
            <a:r>
              <a:rPr lang="en-US" sz="4400" dirty="0"/>
              <a:t>Meet deadlines – 8 weeks per study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B5DA3A-5046-9352-9945-7C2E5E84C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646" y="884225"/>
            <a:ext cx="1676634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746D-FE28-4490-9AB0-335B6292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1FE11-7BEB-439A-A914-803276013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844" y="1825624"/>
            <a:ext cx="10214956" cy="4509001"/>
          </a:xfrm>
        </p:spPr>
        <p:txBody>
          <a:bodyPr>
            <a:normAutofit/>
          </a:bodyPr>
          <a:lstStyle/>
          <a:p>
            <a:r>
              <a:rPr lang="en-US" sz="3600" dirty="0"/>
              <a:t>6 Resources</a:t>
            </a:r>
          </a:p>
          <a:p>
            <a:pPr lvl="1"/>
            <a:r>
              <a:rPr lang="en-US" sz="3200" dirty="0"/>
              <a:t>5 Programmers </a:t>
            </a:r>
          </a:p>
          <a:p>
            <a:pPr lvl="1"/>
            <a:r>
              <a:rPr lang="en-US" sz="3200" dirty="0"/>
              <a:t>1 Project Manager</a:t>
            </a:r>
          </a:p>
          <a:p>
            <a:pPr lvl="1"/>
            <a:r>
              <a:rPr lang="en-US" sz="3200" dirty="0"/>
              <a:t>1 QC Reviewer</a:t>
            </a:r>
          </a:p>
          <a:p>
            <a:r>
              <a:rPr lang="en-US" sz="3600" dirty="0"/>
              <a:t>Consultants fluent in SAS and R</a:t>
            </a:r>
            <a:endParaRPr lang="en-US" sz="3200" dirty="0"/>
          </a:p>
          <a:p>
            <a:r>
              <a:rPr lang="en-US" sz="3600" dirty="0"/>
              <a:t>Mix of onshore and offshore</a:t>
            </a:r>
          </a:p>
          <a:p>
            <a:pPr lvl="1"/>
            <a:r>
              <a:rPr lang="en-US" sz="3200" dirty="0"/>
              <a:t>Advanced programmers offshore (8+ years)</a:t>
            </a:r>
          </a:p>
          <a:p>
            <a:pPr lvl="1"/>
            <a:r>
              <a:rPr lang="en-US" sz="3200" dirty="0"/>
              <a:t>Experts onshore (20+ years)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C8A21A-68CA-005D-3FC5-7D6FE108E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795" y="365125"/>
            <a:ext cx="3439005" cy="2676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8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2EFB-82D3-F9D7-4976-90FD9D439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110" y="1818649"/>
            <a:ext cx="9144000" cy="2387600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03912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581C2-DFBF-49F4-A250-18D39D0E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D9773-0B4C-48A9-B7C9-0095469D5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2482" y="2069432"/>
            <a:ext cx="10214956" cy="3763582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All studies translated from SAS to R</a:t>
            </a:r>
          </a:p>
          <a:p>
            <a:r>
              <a:rPr lang="en-US" sz="3200" dirty="0"/>
              <a:t>AI reduced translation time by 50% to 75%</a:t>
            </a:r>
          </a:p>
          <a:p>
            <a:r>
              <a:rPr lang="en-US" sz="3200" dirty="0"/>
              <a:t>Expert/Advanced programmers needed</a:t>
            </a:r>
          </a:p>
          <a:p>
            <a:r>
              <a:rPr lang="en-US" sz="3200" dirty="0"/>
              <a:t>Lots of difficult problems replicating SAS in R</a:t>
            </a:r>
          </a:p>
          <a:p>
            <a:r>
              <a:rPr lang="en-US" sz="3200" dirty="0"/>
              <a:t>Stats worst problem</a:t>
            </a:r>
          </a:p>
          <a:p>
            <a:r>
              <a:rPr lang="en-US" sz="3200" dirty="0"/>
              <a:t>15% discrepancy rate</a:t>
            </a:r>
          </a:p>
          <a:p>
            <a:r>
              <a:rPr lang="en-US" sz="3200" dirty="0"/>
              <a:t>4-8 hours per program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E4A91B-10DE-19B5-8407-C1BAE416C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339" y="365125"/>
            <a:ext cx="2470556" cy="1884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03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BFCEC-96BD-A9BA-2EA5-449CAC4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of AI Translation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E64B6B-B007-00B5-1F26-356AB1BB3F0C}"/>
              </a:ext>
            </a:extLst>
          </p:cNvPr>
          <p:cNvSpPr txBox="1"/>
          <p:nvPr/>
        </p:nvSpPr>
        <p:spPr>
          <a:xfrm>
            <a:off x="1472365" y="1602774"/>
            <a:ext cx="613309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Variable assignments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Data import/export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Conditional logic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Data processing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Selects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Filters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Most Joins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Most Sorts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AC8B1D-21BD-F090-40FA-E06120CB1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319" y="2320504"/>
            <a:ext cx="2635790" cy="254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88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EE9E-0A70-F42E-4A8E-72F575EA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709F-9CD4-A386-2DBA-70D0D4A8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AI Translation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1BDBEE5-370B-B613-3159-ED1F3F5F2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9858" y="1690688"/>
            <a:ext cx="10110538" cy="440690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Statistics</a:t>
            </a:r>
          </a:p>
          <a:p>
            <a:pPr lvl="1"/>
            <a:r>
              <a:rPr lang="en-US" sz="3200" dirty="0"/>
              <a:t>Function is available, but AI doesn’t know about it</a:t>
            </a:r>
          </a:p>
          <a:p>
            <a:pPr lvl="1"/>
            <a:r>
              <a:rPr lang="en-US" sz="3200" dirty="0"/>
              <a:t>Function is available, but AI doesn’t use it properly</a:t>
            </a:r>
          </a:p>
          <a:p>
            <a:pPr lvl="1"/>
            <a:r>
              <a:rPr lang="en-US" sz="3200" dirty="0"/>
              <a:t>Function not available or doesn’t match</a:t>
            </a:r>
          </a:p>
          <a:p>
            <a:r>
              <a:rPr lang="en-US" sz="3600" dirty="0"/>
              <a:t>Reporting</a:t>
            </a:r>
          </a:p>
          <a:p>
            <a:r>
              <a:rPr lang="en-US" sz="3600" dirty="0"/>
              <a:t>Graphics </a:t>
            </a:r>
          </a:p>
          <a:p>
            <a:r>
              <a:rPr lang="en-US" sz="3600" dirty="0"/>
              <a:t>Transforms/pivots </a:t>
            </a:r>
          </a:p>
          <a:p>
            <a:r>
              <a:rPr lang="en-US" sz="3600" dirty="0"/>
              <a:t>Creating SAS Datasets in R</a:t>
            </a:r>
          </a:p>
          <a:p>
            <a:endParaRPr lang="en-US" sz="3600" dirty="0"/>
          </a:p>
          <a:p>
            <a:pPr lvl="1"/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7129A6-EA38-CA49-D483-AB53AC49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002" y="3746034"/>
            <a:ext cx="2342180" cy="173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340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0358B-F3F6-531D-BAD2-3BC58A42F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3D909-C309-CEDD-27E2-640C975A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Discrepancies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515F43-1D83-D0D5-0E28-C8524DAD9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843" y="1825625"/>
            <a:ext cx="10429519" cy="4351338"/>
          </a:xfrm>
        </p:spPr>
        <p:txBody>
          <a:bodyPr>
            <a:normAutofit/>
          </a:bodyPr>
          <a:lstStyle/>
          <a:p>
            <a:r>
              <a:rPr lang="en-US" sz="3200" dirty="0"/>
              <a:t>Survival analysis with stepwise variable selection</a:t>
            </a:r>
          </a:p>
          <a:p>
            <a:r>
              <a:rPr lang="en-US" sz="3200" dirty="0"/>
              <a:t>Survival analysis log rank p-value, hazard ratio, and interaction value</a:t>
            </a:r>
          </a:p>
          <a:p>
            <a:r>
              <a:rPr lang="en-US" sz="3200" dirty="0"/>
              <a:t>Proc impute multiple imputation</a:t>
            </a:r>
          </a:p>
          <a:p>
            <a:r>
              <a:rPr lang="en-US" sz="3200" dirty="0"/>
              <a:t>Proc logistic with firth option</a:t>
            </a:r>
          </a:p>
          <a:p>
            <a:r>
              <a:rPr lang="en-US" sz="3200" dirty="0"/>
              <a:t>Stratified p-value using CMH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8E300A-0F25-D0A6-E706-F2C59A44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608" y="3230551"/>
            <a:ext cx="3296110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6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736F0-A7A7-3528-A4CC-B5F872E89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1317-E70E-E16B-B329-6E39B03961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110" y="1818649"/>
            <a:ext cx="9144000" cy="2387600"/>
          </a:xfrm>
        </p:spPr>
        <p:txBody>
          <a:bodyPr/>
          <a:lstStyle/>
          <a:p>
            <a:r>
              <a:rPr lang="en-US" dirty="0"/>
              <a:t>Feedback on</a:t>
            </a:r>
            <a:br>
              <a:rPr lang="en-US" dirty="0"/>
            </a:br>
            <a:r>
              <a:rPr lang="en-US" dirty="0"/>
              <a:t>AI Translation</a:t>
            </a:r>
          </a:p>
        </p:txBody>
      </p:sp>
    </p:spTree>
    <p:extLst>
      <p:ext uri="{BB962C8B-B14F-4D97-AF65-F5344CB8AC3E}">
        <p14:creationId xmlns:p14="http://schemas.microsoft.com/office/powerpoint/2010/main" val="2340950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17AC2-F0DB-9E80-F27A-C5151BBBE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697E-35A6-A063-34BC-6FDEBF95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0E4DC-2B94-AE87-3FEF-04E1DA42A879}"/>
              </a:ext>
            </a:extLst>
          </p:cNvPr>
          <p:cNvSpPr txBox="1">
            <a:spLocks/>
          </p:cNvSpPr>
          <p:nvPr/>
        </p:nvSpPr>
        <p:spPr>
          <a:xfrm>
            <a:off x="1391507" y="1690687"/>
            <a:ext cx="10972800" cy="47522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Be specific in the prompt</a:t>
            </a:r>
          </a:p>
          <a:p>
            <a:r>
              <a:rPr lang="en-US" sz="3600" dirty="0"/>
              <a:t>Use popular packages</a:t>
            </a:r>
          </a:p>
          <a:p>
            <a:r>
              <a:rPr lang="en-US" sz="3600" dirty="0"/>
              <a:t>Use references</a:t>
            </a:r>
          </a:p>
          <a:p>
            <a:r>
              <a:rPr lang="en-US" sz="3600" dirty="0"/>
              <a:t>Unit test as you go</a:t>
            </a:r>
          </a:p>
          <a:p>
            <a:r>
              <a:rPr lang="en-US" sz="3600" dirty="0"/>
              <a:t>Point out errors and provide corrections</a:t>
            </a:r>
          </a:p>
          <a:p>
            <a:r>
              <a:rPr lang="en-US" sz="3600" dirty="0"/>
              <a:t>Teach it your style</a:t>
            </a:r>
          </a:p>
          <a:p>
            <a:r>
              <a:rPr lang="en-US" sz="3600" dirty="0"/>
              <a:t>Upload images or examples of target</a:t>
            </a:r>
          </a:p>
          <a:p>
            <a:endParaRPr lang="en-US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913211-E2CD-88C3-C0AE-C069A9D17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719" y="304605"/>
            <a:ext cx="2000529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3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E1BC-4731-8F57-4780-ABB82D006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DDFC9-2989-C03F-0DCB-2EC37413C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7A18C5C1-BDF5-20AB-A3B7-727E642E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3921" y="1690688"/>
            <a:ext cx="10972800" cy="4406900"/>
          </a:xfrm>
        </p:spPr>
        <p:txBody>
          <a:bodyPr/>
          <a:lstStyle/>
          <a:p>
            <a:r>
              <a:rPr lang="en-US" sz="3600" dirty="0"/>
              <a:t>Still has some hallucinations</a:t>
            </a:r>
          </a:p>
          <a:p>
            <a:r>
              <a:rPr lang="en-US" sz="3600" dirty="0"/>
              <a:t>Don’t exceed context window (200+ lines)</a:t>
            </a:r>
          </a:p>
          <a:p>
            <a:r>
              <a:rPr lang="en-US" sz="3600" dirty="0"/>
              <a:t>Gives up on hard code</a:t>
            </a:r>
          </a:p>
          <a:p>
            <a:r>
              <a:rPr lang="en-US" sz="3600" dirty="0"/>
              <a:t>Inconsistent responses</a:t>
            </a:r>
          </a:p>
          <a:p>
            <a:r>
              <a:rPr lang="en-US" sz="3600" dirty="0"/>
              <a:t>Can’t make up for differences in languages</a:t>
            </a:r>
          </a:p>
          <a:p>
            <a:r>
              <a:rPr lang="en-US" sz="3600" dirty="0"/>
              <a:t>Doesn’t replace human determination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2C389A-4792-C024-39AF-055C3379B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5156" y="365125"/>
            <a:ext cx="1811048" cy="184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170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2B10-F81E-7852-F761-9F89A79D0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D3A94-4BC4-57F5-BAB8-50A11B728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packages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32E546A7-95AD-137E-47A8-9B16E6C8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3921" y="1690688"/>
            <a:ext cx="10972800" cy="4406900"/>
          </a:xfrm>
        </p:spPr>
        <p:txBody>
          <a:bodyPr/>
          <a:lstStyle/>
          <a:p>
            <a:r>
              <a:rPr lang="en-US" sz="3600" dirty="0"/>
              <a:t>Comparisons:</a:t>
            </a:r>
          </a:p>
          <a:p>
            <a:pPr lvl="1"/>
            <a:r>
              <a:rPr lang="en-US" sz="3200" b="1" dirty="0" err="1"/>
              <a:t>diffdf</a:t>
            </a:r>
            <a:r>
              <a:rPr lang="en-US" sz="3200" dirty="0"/>
              <a:t> – comparing data frames</a:t>
            </a:r>
          </a:p>
          <a:p>
            <a:pPr lvl="1"/>
            <a:r>
              <a:rPr lang="en-US" sz="3200" b="1" dirty="0" err="1"/>
              <a:t>fmtr</a:t>
            </a:r>
            <a:r>
              <a:rPr lang="en-US" sz="3200" dirty="0"/>
              <a:t> – matching SAS formats exactly</a:t>
            </a:r>
          </a:p>
          <a:p>
            <a:r>
              <a:rPr lang="en-US" sz="3600" dirty="0"/>
              <a:t>Statistics:</a:t>
            </a:r>
          </a:p>
          <a:p>
            <a:pPr lvl="1"/>
            <a:r>
              <a:rPr lang="en-US" sz="3200" b="1" dirty="0" err="1"/>
              <a:t>sasLM</a:t>
            </a:r>
            <a:r>
              <a:rPr lang="en-US" sz="3200" dirty="0"/>
              <a:t> – pre-validated with SAS, R-style syntax</a:t>
            </a:r>
          </a:p>
          <a:p>
            <a:pPr lvl="1"/>
            <a:r>
              <a:rPr lang="en-US" sz="3200" b="1" dirty="0"/>
              <a:t>procs</a:t>
            </a:r>
            <a:r>
              <a:rPr lang="en-US" sz="3200" dirty="0"/>
              <a:t> – pre-validated with SAS, SAS-style syntax</a:t>
            </a:r>
          </a:p>
          <a:p>
            <a:pPr lvl="1"/>
            <a:r>
              <a:rPr lang="en-US" sz="3200" b="1" dirty="0" err="1"/>
              <a:t>DescTools</a:t>
            </a:r>
            <a:r>
              <a:rPr lang="en-US" sz="3200" dirty="0"/>
              <a:t> – lots of functions that match SAS, and AI doesn’t seem to know much about it.</a:t>
            </a:r>
          </a:p>
          <a:p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47916-C716-7218-7816-63430F15F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87" y="202813"/>
            <a:ext cx="2448267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769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C6067-663C-025F-6093-45145D036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2573-7062-33E2-F23D-C7BA2068A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packages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E5D8919-60BD-7AA8-326C-B5CB74578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1890" y="1871162"/>
            <a:ext cx="10972800" cy="4406900"/>
          </a:xfrm>
        </p:spPr>
        <p:txBody>
          <a:bodyPr>
            <a:normAutofit/>
          </a:bodyPr>
          <a:lstStyle/>
          <a:p>
            <a:r>
              <a:rPr lang="en-US" sz="3600" dirty="0"/>
              <a:t>Reporting:</a:t>
            </a:r>
          </a:p>
          <a:p>
            <a:pPr lvl="1"/>
            <a:r>
              <a:rPr lang="en-US" sz="3200" b="1" dirty="0"/>
              <a:t>r2rtf</a:t>
            </a:r>
            <a:r>
              <a:rPr lang="en-US" sz="3200" dirty="0"/>
              <a:t> – for border-separated tables RTF</a:t>
            </a:r>
          </a:p>
          <a:p>
            <a:pPr lvl="1"/>
            <a:r>
              <a:rPr lang="en-US" sz="3200" b="1" dirty="0"/>
              <a:t>reporter</a:t>
            </a:r>
            <a:r>
              <a:rPr lang="en-US" sz="3200" dirty="0"/>
              <a:t> – similar capabilities to PROC REPORT</a:t>
            </a:r>
          </a:p>
          <a:p>
            <a:r>
              <a:rPr lang="en-US" sz="3600" dirty="0"/>
              <a:t>Logging:</a:t>
            </a:r>
          </a:p>
          <a:p>
            <a:pPr lvl="1"/>
            <a:r>
              <a:rPr lang="en-US" sz="3200" b="1" dirty="0" err="1"/>
              <a:t>logr</a:t>
            </a:r>
            <a:r>
              <a:rPr lang="en-US" sz="3200" dirty="0"/>
              <a:t> – captures what program is doing</a:t>
            </a:r>
          </a:p>
          <a:p>
            <a:pPr lvl="1"/>
            <a:r>
              <a:rPr lang="en-US" sz="3200" b="1" dirty="0" err="1"/>
              <a:t>logrx</a:t>
            </a:r>
            <a:r>
              <a:rPr lang="en-US" sz="3200" dirty="0"/>
              <a:t> – captures context program is running in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AC431-DFE3-DB4A-1AC5-2B99E1B1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3897" y="256102"/>
            <a:ext cx="2007917" cy="187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3835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0FF5-76CC-DE72-51DF-38724F9A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7315-16D8-0CB1-B79E-DEA0AF949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110" y="1818649"/>
            <a:ext cx="9144000" cy="2387600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72534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0284-1D50-33E3-8421-D7802795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A7094-2BAD-FB96-9EBD-508E0AB7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D30F3-56AC-678F-965D-06EC42C5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8844" y="1302251"/>
            <a:ext cx="10958909" cy="519062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sz="3600" dirty="0"/>
          </a:p>
          <a:p>
            <a:r>
              <a:rPr lang="en-US" sz="4400" dirty="0"/>
              <a:t>Translation from SAS to R with AI is feasible</a:t>
            </a:r>
          </a:p>
          <a:p>
            <a:r>
              <a:rPr lang="en-US" sz="4400" dirty="0"/>
              <a:t>Reduces time by at least 50%</a:t>
            </a:r>
          </a:p>
          <a:p>
            <a:r>
              <a:rPr lang="en-US" sz="4400" dirty="0"/>
              <a:t>Need advanced and expert programmers</a:t>
            </a:r>
          </a:p>
          <a:p>
            <a:r>
              <a:rPr lang="en-US" sz="4400" dirty="0"/>
              <a:t>Biggest problem is matching stats</a:t>
            </a:r>
          </a:p>
          <a:p>
            <a:pPr lvl="1"/>
            <a:r>
              <a:rPr lang="en-US" sz="4000" dirty="0"/>
              <a:t>85% will match 100%</a:t>
            </a:r>
          </a:p>
          <a:p>
            <a:pPr lvl="1"/>
            <a:r>
              <a:rPr lang="en-US" sz="4000" dirty="0"/>
              <a:t>15% will not</a:t>
            </a:r>
          </a:p>
          <a:p>
            <a:pPr lvl="1"/>
            <a:r>
              <a:rPr lang="en-US" sz="4000" dirty="0"/>
              <a:t>AI can’t do anything about it</a:t>
            </a:r>
          </a:p>
          <a:p>
            <a:r>
              <a:rPr lang="en-US" sz="4400" dirty="0"/>
              <a:t>Need 6-8 hours remediation per program</a:t>
            </a:r>
          </a:p>
          <a:p>
            <a:r>
              <a:rPr lang="en-US" sz="4400" dirty="0"/>
              <a:t>Need QC review process</a:t>
            </a:r>
          </a:p>
          <a:p>
            <a:endParaRPr lang="en-US" sz="44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8E84D6-A5E0-5C21-76B0-233E49422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595" y="117298"/>
            <a:ext cx="2297225" cy="157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62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A5DC-15D6-0A03-605F-FA375624E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 Info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1F0CC8D-1D3A-25D9-2E87-8FDEE675E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9020" y="1825625"/>
            <a:ext cx="715477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David J. Bosak</a:t>
            </a:r>
          </a:p>
          <a:p>
            <a:pPr marL="0" indent="0">
              <a:buNone/>
            </a:pPr>
            <a:r>
              <a:rPr lang="en-US" dirty="0"/>
              <a:t>Archytas Clinical Solutions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dbosak01@gmail.com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r-sassy.org</a:t>
            </a:r>
          </a:p>
          <a:p>
            <a:pPr marL="0" indent="0">
              <a:buNone/>
            </a:pPr>
            <a:r>
              <a:rPr lang="en-US" i="0" u="sng" dirty="0">
                <a:effectLst/>
                <a:latin typeface="-apple-system"/>
                <a:hlinkClick r:id="rId3"/>
              </a:rPr>
              <a:t>linkedin.com/in/david-bosak-724b3911</a:t>
            </a:r>
            <a:endParaRPr lang="en-US" i="0" u="sng" dirty="0">
              <a:effectLst/>
              <a:latin typeface="-apple-system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11C88-81B0-AF5C-91C6-C6FEFBD49EE7}"/>
              </a:ext>
            </a:extLst>
          </p:cNvPr>
          <p:cNvSpPr txBox="1"/>
          <p:nvPr/>
        </p:nvSpPr>
        <p:spPr>
          <a:xfrm>
            <a:off x="1241257" y="1778669"/>
            <a:ext cx="3124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2800" dirty="0"/>
              <a:t>Name: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Affiliation: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E-mail: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Website:</a:t>
            </a:r>
          </a:p>
          <a:p>
            <a:pPr>
              <a:spcBef>
                <a:spcPts val="600"/>
              </a:spcBef>
            </a:pPr>
            <a:r>
              <a:rPr lang="en-US" sz="2800" dirty="0"/>
              <a:t>LinkedIn: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D48534-AA55-1604-E666-52599F7392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9619" y="418306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97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75ED-321A-4572-965B-C4718CD9D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074" y="2141037"/>
            <a:ext cx="9144000" cy="2387600"/>
          </a:xfrm>
        </p:spPr>
        <p:txBody>
          <a:bodyPr/>
          <a:lstStyle/>
          <a:p>
            <a:r>
              <a:rPr lang="en-US" dirty="0"/>
              <a:t>Questions/Discussion</a:t>
            </a:r>
          </a:p>
        </p:txBody>
      </p:sp>
    </p:spTree>
    <p:extLst>
      <p:ext uri="{BB962C8B-B14F-4D97-AF65-F5344CB8AC3E}">
        <p14:creationId xmlns:p14="http://schemas.microsoft.com/office/powerpoint/2010/main" val="142262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10652</TotalTime>
  <Words>559</Words>
  <Application>Microsoft Office PowerPoint</Application>
  <PresentationFormat>Widescreen</PresentationFormat>
  <Paragraphs>130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-apple-system</vt:lpstr>
      <vt:lpstr>Arial</vt:lpstr>
      <vt:lpstr>Segoe UI</vt:lpstr>
      <vt:lpstr>Segoe UI Semibold</vt:lpstr>
      <vt:lpstr>Office Theme</vt:lpstr>
      <vt:lpstr>PowerPoint Presentation</vt:lpstr>
      <vt:lpstr>SAS® to R Translation Project</vt:lpstr>
      <vt:lpstr>Questions</vt:lpstr>
      <vt:lpstr>Pilot Project</vt:lpstr>
      <vt:lpstr>Process</vt:lpstr>
      <vt:lpstr>Goals</vt:lpstr>
      <vt:lpstr>Team Composition</vt:lpstr>
      <vt:lpstr>Results</vt:lpstr>
      <vt:lpstr>Project Results</vt:lpstr>
      <vt:lpstr>Strengths of AI Translation</vt:lpstr>
      <vt:lpstr>Weaknesses of AI Translation</vt:lpstr>
      <vt:lpstr>Statistical Discrepancies</vt:lpstr>
      <vt:lpstr>Feedback on AI Translation</vt:lpstr>
      <vt:lpstr>Tips</vt:lpstr>
      <vt:lpstr>Limitations</vt:lpstr>
      <vt:lpstr>Useful packages</vt:lpstr>
      <vt:lpstr>Useful packages</vt:lpstr>
      <vt:lpstr>Conclusion</vt:lpstr>
      <vt:lpstr>Key Points</vt:lpstr>
      <vt:lpstr>Contact Info</vt:lpstr>
      <vt:lpstr>Questions/Discussion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Bosak</dc:creator>
  <cp:lastModifiedBy>David Bosak</cp:lastModifiedBy>
  <cp:revision>39</cp:revision>
  <dcterms:created xsi:type="dcterms:W3CDTF">2022-01-19T18:27:32Z</dcterms:created>
  <dcterms:modified xsi:type="dcterms:W3CDTF">2026-02-15T19:53:28Z</dcterms:modified>
</cp:coreProperties>
</file>